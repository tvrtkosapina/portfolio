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21"/>
  </p:notesMasterIdLst>
  <p:handoutMasterIdLst>
    <p:handoutMasterId r:id="rId22"/>
  </p:handoutMasterIdLst>
  <p:sldIdLst>
    <p:sldId id="257" r:id="rId2"/>
    <p:sldId id="265" r:id="rId3"/>
    <p:sldId id="263" r:id="rId4"/>
    <p:sldId id="262" r:id="rId5"/>
    <p:sldId id="267" r:id="rId6"/>
    <p:sldId id="261" r:id="rId7"/>
    <p:sldId id="264" r:id="rId8"/>
    <p:sldId id="271" r:id="rId9"/>
    <p:sldId id="266" r:id="rId10"/>
    <p:sldId id="273" r:id="rId11"/>
    <p:sldId id="275" r:id="rId12"/>
    <p:sldId id="269" r:id="rId13"/>
    <p:sldId id="270" r:id="rId14"/>
    <p:sldId id="274" r:id="rId15"/>
    <p:sldId id="272" r:id="rId16"/>
    <p:sldId id="276" r:id="rId17"/>
    <p:sldId id="278" r:id="rId18"/>
    <p:sldId id="277" r:id="rId19"/>
    <p:sldId id="268" r:id="rId20"/>
  </p:sldIdLst>
  <p:sldSz cx="12192000" cy="6858000"/>
  <p:notesSz cx="6858000" cy="9144000"/>
  <p:defaultTextStyle>
    <a:defPPr rtl="0">
      <a:defRPr lang="hr-h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 rtlCol="0"/>
        <a:lstStyle/>
        <a:p>
          <a:pPr rtl="0"/>
          <a:endParaRPr lang="en-US"/>
        </a:p>
      </dgm:t>
    </dgm:pt>
    <dgm:pt modelId="{40FC4FFE-8987-4A26-B7F4-8A516F18ADAE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hr-HR" dirty="0"/>
            <a:t>J</a:t>
          </a:r>
          <a:r>
            <a:rPr lang="hr" dirty="0"/>
            <a:t>ednostavan postupak</a:t>
          </a:r>
        </a:p>
      </dgm:t>
    </dgm:pt>
    <dgm:pt modelId="{CAD7EF86-FB23-41F6-BF42-040B36DEFDB1}" type="parTrans" cxnId="{C7AD8469-3C68-4AF9-AB82-79B0043AA120}">
      <dgm:prSet/>
      <dgm:spPr/>
      <dgm:t>
        <a:bodyPr rtlCol="0"/>
        <a:lstStyle/>
        <a:p>
          <a:pPr rtl="0"/>
          <a:endParaRPr lang="en-US"/>
        </a:p>
      </dgm:t>
    </dgm:pt>
    <dgm:pt modelId="{5B62599A-5C9B-48E7-896E-EA782AC60C8B}" type="sibTrans" cxnId="{C7AD8469-3C68-4AF9-AB82-79B0043AA120}">
      <dgm:prSet/>
      <dgm:spPr/>
      <dgm:t>
        <a:bodyPr rtlCol="0"/>
        <a:lstStyle/>
        <a:p>
          <a:pPr rtl="0"/>
          <a:endParaRPr lang="en-US"/>
        </a:p>
      </dgm:t>
    </dgm:pt>
    <dgm:pt modelId="{49225C73-1633-42F1-AB3B-7CB183E5F8B8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hr" dirty="0"/>
            <a:t>Metoda pogodna za crtanje grafova</a:t>
          </a:r>
        </a:p>
      </dgm:t>
    </dgm:pt>
    <dgm:pt modelId="{1A0E2090-1D4F-438A-8766-B6030CE01ADD}" type="parTrans" cxnId="{A9154303-8225-4248-91DC-1B0156A35F07}">
      <dgm:prSet/>
      <dgm:spPr/>
      <dgm:t>
        <a:bodyPr rtlCol="0"/>
        <a:lstStyle/>
        <a:p>
          <a:pPr rtl="0"/>
          <a:endParaRPr lang="en-US"/>
        </a:p>
      </dgm:t>
    </dgm:pt>
    <dgm:pt modelId="{9646853A-8964-4519-A5B1-0B7D18B2983D}" type="sibTrans" cxnId="{A9154303-8225-4248-91DC-1B0156A35F07}">
      <dgm:prSet/>
      <dgm:spPr/>
      <dgm:t>
        <a:bodyPr rtlCol="0"/>
        <a:lstStyle/>
        <a:p>
          <a:pPr rtl="0"/>
          <a:endParaRPr lang="en-US"/>
        </a:p>
      </dgm:t>
    </dgm:pt>
    <dgm:pt modelId="{1C383F32-22E8-4F62-A3E0-BDC3D5F48992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hr" dirty="0"/>
            <a:t>Vremenski jako zahtjevna, za precizno korištenje trebaju nam superračunala</a:t>
          </a:r>
        </a:p>
      </dgm:t>
    </dgm:pt>
    <dgm:pt modelId="{A7920A2F-3244-4159-AF04-6A1D38B7B317}" type="parTrans" cxnId="{C4CCE57E-E871-46D6-BAD5-880252C95D22}">
      <dgm:prSet/>
      <dgm:spPr/>
      <dgm:t>
        <a:bodyPr rtlCol="0"/>
        <a:lstStyle/>
        <a:p>
          <a:pPr rtl="0"/>
          <a:endParaRPr lang="en-US"/>
        </a:p>
      </dgm:t>
    </dgm:pt>
    <dgm:pt modelId="{8500F72A-2C6D-4FDF-9C1D-CA691380EB0B}" type="sibTrans" cxnId="{C4CCE57E-E871-46D6-BAD5-880252C95D22}">
      <dgm:prSet/>
      <dgm:spPr/>
      <dgm:t>
        <a:bodyPr rtlCol="0"/>
        <a:lstStyle/>
        <a:p>
          <a:pPr rtl="0"/>
          <a:endParaRPr lang="en-US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/>
    </dgm:pt>
    <dgm:pt modelId="{7C175B98-93F4-4D7C-BB95-1514AB879CD5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/>
    </dgm:pt>
    <dgm:pt modelId="{DB4CA7C4-FCA1-4127-B20A-2A5C031A3CF4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bar chart"/>
        </a:ext>
      </dgm:extLst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/>
      <dgm:spPr/>
    </dgm:pt>
    <dgm:pt modelId="{39509775-983E-4110-B989-EE2CD6514BE0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616949" y="310305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1004512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35606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r-HR" sz="1500" kern="1200" dirty="0"/>
            <a:t>J</a:t>
          </a:r>
          <a:r>
            <a:rPr lang="hr" sz="1500" kern="1200" dirty="0"/>
            <a:t>ednostavan postupak</a:t>
          </a:r>
        </a:p>
      </dsp:txBody>
      <dsp:txXfrm>
        <a:off x="35606" y="2695306"/>
        <a:ext cx="2981250" cy="720000"/>
      </dsp:txXfrm>
    </dsp:sp>
    <dsp:sp modelId="{BCD8CDD9-0C56-4401-ADB1-8B48DAB2C96F}">
      <dsp:nvSpPr>
        <dsp:cNvPr id="0" name=""/>
        <dsp:cNvSpPr/>
      </dsp:nvSpPr>
      <dsp:spPr>
        <a:xfrm>
          <a:off x="4119918" y="310305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507481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3538574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r" sz="1500" kern="1200" dirty="0"/>
            <a:t>Metoda pogodna za crtanje grafova</a:t>
          </a:r>
        </a:p>
      </dsp:txBody>
      <dsp:txXfrm>
        <a:off x="3538574" y="2695306"/>
        <a:ext cx="2981250" cy="720000"/>
      </dsp:txXfrm>
    </dsp:sp>
    <dsp:sp modelId="{FF93E135-77D6-48A0-8871-9BC93D705D06}">
      <dsp:nvSpPr>
        <dsp:cNvPr id="0" name=""/>
        <dsp:cNvSpPr/>
      </dsp:nvSpPr>
      <dsp:spPr>
        <a:xfrm>
          <a:off x="7622887" y="310305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8010450" y="697868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7041543" y="2695306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666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hr" sz="1500" kern="1200" dirty="0"/>
            <a:t>Vremenski jako zahtjevna, za precizno korištenje trebaju nam superračunala</a:t>
          </a:r>
        </a:p>
      </dsp:txBody>
      <dsp:txXfrm>
        <a:off x="7041543" y="2695306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Rezervirano mjesto za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A44C4AE-B96D-4CDE-810B-D34BA663C7CF}" type="datetime1">
              <a:rPr lang="sr-Latn-RS" smtClean="0"/>
              <a:t>11.1.2023.</a:t>
            </a:fld>
            <a:endParaRPr lang="en-US" dirty="0"/>
          </a:p>
        </p:txBody>
      </p:sp>
      <p:sp>
        <p:nvSpPr>
          <p:cNvPr id="4" name="Rezervirano mjesto za podnožj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Rezervirano mjesto za broj slajd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zaglavlj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Rezervirano mjesto za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C181E9A-36FA-473E-82C4-F01911B1363F}" type="datetime1">
              <a:rPr lang="sr-Latn-RS" smtClean="0"/>
              <a:t>11.1.2023.</a:t>
            </a:fld>
            <a:endParaRPr lang="en-US" dirty="0"/>
          </a:p>
        </p:txBody>
      </p:sp>
      <p:sp>
        <p:nvSpPr>
          <p:cNvPr id="4" name="Rezervirano mjesto za sliku na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Rezervirano mjesto za bilješk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hr"/>
              <a:t>Kliknite da biste uredili stilove teksta matrice</a:t>
            </a:r>
            <a:endParaRPr lang="en-US"/>
          </a:p>
          <a:p>
            <a:pPr lvl="1" rtl="0"/>
            <a:r>
              <a:rPr lang="hr"/>
              <a:t>Druga razina</a:t>
            </a:r>
          </a:p>
          <a:p>
            <a:pPr lvl="2" rtl="0"/>
            <a:r>
              <a:rPr lang="hr"/>
              <a:t>Treća razina</a:t>
            </a:r>
          </a:p>
          <a:p>
            <a:pPr lvl="3" rtl="0"/>
            <a:r>
              <a:rPr lang="hr"/>
              <a:t>Četvrta razina</a:t>
            </a:r>
          </a:p>
          <a:p>
            <a:pPr lvl="4" rtl="0"/>
            <a:r>
              <a:rPr lang="hr"/>
              <a:t>Peta razina</a:t>
            </a:r>
            <a:endParaRPr lang="en-US"/>
          </a:p>
        </p:txBody>
      </p:sp>
      <p:sp>
        <p:nvSpPr>
          <p:cNvPr id="6" name="Rezervirano mjesto za podnožj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Rezervirano mjesto za broj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ravokutnik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10" name="Pravokutnik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Pravokutnik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Pravokutnik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upa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Ravni poveznik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avni poveznik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Ravni poveznik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0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hr-HR"/>
              <a:t>Kliknite da biste uredili stil podnaslova matrice</a:t>
            </a:r>
            <a:endParaRPr lang="en-US" dirty="0"/>
          </a:p>
        </p:txBody>
      </p:sp>
      <p:sp>
        <p:nvSpPr>
          <p:cNvPr id="20" name="Rezervirano mjesto za datum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 rtl="0"/>
            <a:fld id="{E8885869-B068-409A-BCEB-4F7E5B63EAEB}" type="datetime1">
              <a:rPr lang="sr-Latn-RS" smtClean="0"/>
              <a:t>11.1.2023.</a:t>
            </a:fld>
            <a:endParaRPr lang="en-US" dirty="0"/>
          </a:p>
        </p:txBody>
      </p:sp>
      <p:sp>
        <p:nvSpPr>
          <p:cNvPr id="21" name="Rezervirano mjesto za podnožje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22" name="Rezervirano mjesto za broj slajda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Rezervirano mjesto za sadržaj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hr-HR"/>
              <a:t>Kliknite da biste uredili matrice</a:t>
            </a:r>
          </a:p>
          <a:p>
            <a:pPr lvl="1" rtl="0"/>
            <a:r>
              <a:rPr lang="hr-HR"/>
              <a:t>Druga razina</a:t>
            </a:r>
          </a:p>
          <a:p>
            <a:pPr lvl="2" rtl="0"/>
            <a:r>
              <a:rPr lang="hr-HR"/>
              <a:t>Treća razina</a:t>
            </a:r>
          </a:p>
          <a:p>
            <a:pPr lvl="3" rtl="0"/>
            <a:r>
              <a:rPr lang="hr-HR"/>
              <a:t>Četvrta razina</a:t>
            </a:r>
          </a:p>
          <a:p>
            <a:pPr lvl="4" rtl="0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9314C8-ED56-4756-B0CD-6D712BE27B48}" type="datetime1">
              <a:rPr lang="sr-Latn-RS" smtClean="0"/>
              <a:t>11.1.2023.</a:t>
            </a:fld>
            <a:endParaRPr lang="en-US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avokutnik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 useBgFill="1">
        <p:nvSpPr>
          <p:cNvPr id="23" name="Pravokutnik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Pravokutnik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Pravokutnik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0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r-HR"/>
              <a:t>Kliknite da biste uredili stil naslova matrice</a:t>
            </a:r>
            <a:endParaRPr lang="en-US" dirty="0"/>
          </a:p>
        </p:txBody>
      </p:sp>
      <p:grpSp>
        <p:nvGrpSpPr>
          <p:cNvPr id="16" name="Grupa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Ravni poveznik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avni poveznik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Ravni poveznik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r-HR"/>
              <a:t>Kliknite da biste uredili matrice</a:t>
            </a:r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rtl="0"/>
            <a:fld id="{C9794191-82E4-45EF-B2DF-FDA23A6404F9}" type="datetime1">
              <a:rPr lang="sr-Latn-RS" smtClean="0"/>
              <a:t>11.1.2023.</a:t>
            </a:fld>
            <a:endParaRPr lang="en-US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slov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Rezervirano mjesto za sadržaj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r-HR"/>
              <a:t>Kliknite da biste uredili matrice</a:t>
            </a:r>
          </a:p>
          <a:p>
            <a:pPr lvl="1" rtl="0"/>
            <a:r>
              <a:rPr lang="hr-HR"/>
              <a:t>Druga razina</a:t>
            </a:r>
          </a:p>
          <a:p>
            <a:pPr lvl="2" rtl="0"/>
            <a:r>
              <a:rPr lang="hr-HR"/>
              <a:t>Treća razina</a:t>
            </a:r>
          </a:p>
          <a:p>
            <a:pPr lvl="3" rtl="0"/>
            <a:r>
              <a:rPr lang="hr-HR"/>
              <a:t>Četvrta razina</a:t>
            </a:r>
          </a:p>
          <a:p>
            <a:pPr lvl="4" rtl="0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Rezervirano mjesto za sadržaj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r-HR"/>
              <a:t>Kliknite da biste uredili matrice</a:t>
            </a:r>
          </a:p>
          <a:p>
            <a:pPr lvl="1" rtl="0"/>
            <a:r>
              <a:rPr lang="hr-HR"/>
              <a:t>Druga razina</a:t>
            </a:r>
          </a:p>
          <a:p>
            <a:pPr lvl="2" rtl="0"/>
            <a:r>
              <a:rPr lang="hr-HR"/>
              <a:t>Treća razina</a:t>
            </a:r>
          </a:p>
          <a:p>
            <a:pPr lvl="3" rtl="0"/>
            <a:r>
              <a:rPr lang="hr-HR"/>
              <a:t>Četvrta razina</a:t>
            </a:r>
          </a:p>
          <a:p>
            <a:pPr lvl="4" rtl="0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5" name="Rezervirano mjesto za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8115DC-F980-4265-BDCD-70064EAF7AC7}" type="datetime1">
              <a:rPr lang="sr-Latn-RS" smtClean="0"/>
              <a:t>11.1.2023.</a:t>
            </a:fld>
            <a:endParaRPr lang="en-US"/>
          </a:p>
        </p:txBody>
      </p:sp>
      <p:sp>
        <p:nvSpPr>
          <p:cNvPr id="6" name="Rezervirano mjesto za podnožj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7" name="Rezervirano mjesto za broj slajd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r-HR"/>
              <a:t>Kliknite da biste uredili matrice</a:t>
            </a:r>
          </a:p>
        </p:txBody>
      </p:sp>
      <p:sp>
        <p:nvSpPr>
          <p:cNvPr id="4" name="Rezervirano mjesto za sadržaj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r-HR"/>
              <a:t>Kliknite da biste uredili matrice</a:t>
            </a:r>
          </a:p>
          <a:p>
            <a:pPr lvl="1" rtl="0"/>
            <a:r>
              <a:rPr lang="hr-HR"/>
              <a:t>Druga razina</a:t>
            </a:r>
          </a:p>
          <a:p>
            <a:pPr lvl="2" rtl="0"/>
            <a:r>
              <a:rPr lang="hr-HR"/>
              <a:t>Treća razina</a:t>
            </a:r>
          </a:p>
          <a:p>
            <a:pPr lvl="3" rtl="0"/>
            <a:r>
              <a:rPr lang="hr-HR"/>
              <a:t>Četvrta razina</a:t>
            </a:r>
          </a:p>
          <a:p>
            <a:pPr lvl="4" rtl="0"/>
            <a:r>
              <a:rPr lang="hr-HR"/>
              <a:t>Peta razina stilove teksta</a:t>
            </a:r>
            <a:endParaRPr lang="hr"/>
          </a:p>
        </p:txBody>
      </p:sp>
      <p:sp>
        <p:nvSpPr>
          <p:cNvPr id="5" name="Rezervirano mjesto za tekst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hr-HR"/>
              <a:t>Kliknite da biste uredili matrice</a:t>
            </a:r>
          </a:p>
        </p:txBody>
      </p:sp>
      <p:sp>
        <p:nvSpPr>
          <p:cNvPr id="6" name="Rezervirano mjesto za sadržaj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r-HR"/>
              <a:t>Kliknite da biste uredili matrice</a:t>
            </a:r>
          </a:p>
          <a:p>
            <a:pPr lvl="1" rtl="0"/>
            <a:r>
              <a:rPr lang="hr-HR"/>
              <a:t>Druga razina</a:t>
            </a:r>
          </a:p>
          <a:p>
            <a:pPr lvl="2" rtl="0"/>
            <a:r>
              <a:rPr lang="hr-HR"/>
              <a:t>Treća razina</a:t>
            </a:r>
          </a:p>
          <a:p>
            <a:pPr lvl="3" rtl="0"/>
            <a:r>
              <a:rPr lang="hr-HR"/>
              <a:t>Četvrta razina</a:t>
            </a:r>
          </a:p>
          <a:p>
            <a:pPr lvl="4" rtl="0"/>
            <a:r>
              <a:rPr lang="hr-HR"/>
              <a:t>Peta razina stilove teksta</a:t>
            </a:r>
            <a:endParaRPr lang="hr"/>
          </a:p>
        </p:txBody>
      </p:sp>
      <p:sp>
        <p:nvSpPr>
          <p:cNvPr id="7" name="Rezervirano mjesto za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7F118D5-4299-4A2F-9F76-D0606DF9DF42}" type="datetime1">
              <a:rPr lang="sr-Latn-RS" smtClean="0"/>
              <a:t>11.1.2023.</a:t>
            </a:fld>
            <a:endParaRPr lang="en-US"/>
          </a:p>
        </p:txBody>
      </p:sp>
      <p:sp>
        <p:nvSpPr>
          <p:cNvPr id="8" name="Rezervirano mjesto za podnožj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Rezervirano mjesto za broj slajd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Rezervirano mjesto za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5509A0-50F9-4355-A7E6-40BC0B55820E}" type="datetime1">
              <a:rPr lang="sr-Latn-RS" smtClean="0"/>
              <a:t>11.1.2023.</a:t>
            </a:fld>
            <a:endParaRPr lang="en-US"/>
          </a:p>
        </p:txBody>
      </p:sp>
      <p:sp>
        <p:nvSpPr>
          <p:cNvPr id="4" name="Rezervirano mjesto za podnožj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5" name="Rezervirano mjesto za broj slajd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75FD4C-D307-40C5-8E7B-59AD9076BFB9}" type="datetime1">
              <a:rPr lang="sr-Latn-RS" smtClean="0"/>
              <a:t>11.1.2023.</a:t>
            </a:fld>
            <a:endParaRPr lang="en-US"/>
          </a:p>
        </p:txBody>
      </p:sp>
      <p:sp>
        <p:nvSpPr>
          <p:cNvPr id="3" name="Rezervirano mjesto za podnožj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Rezervirano mjesto za broj slajd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utnik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Pravokutnik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pPr rtl="0"/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Rezervirano mjesto za sadržaj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hr-HR"/>
              <a:t>Kliknite da biste uredili matrice</a:t>
            </a:r>
          </a:p>
          <a:p>
            <a:pPr lvl="1" rtl="0"/>
            <a:r>
              <a:rPr lang="hr-HR"/>
              <a:t>Druga razina</a:t>
            </a:r>
          </a:p>
          <a:p>
            <a:pPr lvl="2" rtl="0"/>
            <a:r>
              <a:rPr lang="hr-HR"/>
              <a:t>Treća razina</a:t>
            </a:r>
          </a:p>
          <a:p>
            <a:pPr lvl="3" rtl="0"/>
            <a:r>
              <a:rPr lang="hr-HR"/>
              <a:t>Četvrta razina</a:t>
            </a:r>
          </a:p>
          <a:p>
            <a:pPr lvl="4" rtl="0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Rezervirano mjesto za tekst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r-HR"/>
              <a:t>Kliknite da biste uredili matrice</a:t>
            </a:r>
          </a:p>
        </p:txBody>
      </p:sp>
      <p:sp>
        <p:nvSpPr>
          <p:cNvPr id="8" name="Rezervirano mjesto za datum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B9841072-3D07-4E65-9DD7-9E0704450E00}" type="datetime1">
              <a:rPr lang="sr-Latn-RS" smtClean="0"/>
              <a:t>11.1.2023.</a:t>
            </a:fld>
            <a:endParaRPr lang="en-US"/>
          </a:p>
        </p:txBody>
      </p:sp>
      <p:sp>
        <p:nvSpPr>
          <p:cNvPr id="9" name="Rezervirano mjesto za podnožje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US"/>
          </a:p>
        </p:txBody>
      </p:sp>
      <p:sp>
        <p:nvSpPr>
          <p:cNvPr id="11" name="Rezervirano mjesto za broj slajda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avokutnik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zervirano mjesto za sliku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hr-HR"/>
              <a:t>Kliknite ikonu da biste dodali  sliku</a:t>
            </a:r>
            <a:endParaRPr lang="en-US" dirty="0"/>
          </a:p>
        </p:txBody>
      </p:sp>
      <p:sp>
        <p:nvSpPr>
          <p:cNvPr id="5" name="Rezervirano mjesto za datum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rtl="0"/>
            <a:fld id="{74C0B247-CD71-4835-A057-7F18327D242B}" type="datetime1">
              <a:rPr lang="sr-Latn-RS" smtClean="0"/>
              <a:t>11.1.2023.</a:t>
            </a:fld>
            <a:endParaRPr lang="en-US" dirty="0"/>
          </a:p>
        </p:txBody>
      </p:sp>
      <p:sp>
        <p:nvSpPr>
          <p:cNvPr id="6" name="Rezervirano mjesto za podnožje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 rtl="0"/>
            <a:endParaRPr lang="en-US" dirty="0"/>
          </a:p>
        </p:txBody>
      </p:sp>
      <p:sp>
        <p:nvSpPr>
          <p:cNvPr id="7" name="Rezervirano mjesto za broj slajda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ravokutnik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4" name="Rezervirano mjesto za tekst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hr-HR"/>
              <a:t>Kliknite da biste uredili matrice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Okomiti tekst s rezerviranim mjestom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hr-HR"/>
              <a:t>Kliknite da biste uredili matrice</a:t>
            </a:r>
          </a:p>
          <a:p>
            <a:pPr lvl="1" rtl="0"/>
            <a:r>
              <a:rPr lang="hr-HR"/>
              <a:t>Druga razina</a:t>
            </a:r>
          </a:p>
          <a:p>
            <a:pPr lvl="2" rtl="0"/>
            <a:r>
              <a:rPr lang="hr-HR"/>
              <a:t>Treća razina</a:t>
            </a:r>
          </a:p>
          <a:p>
            <a:pPr lvl="3" rtl="0"/>
            <a:r>
              <a:rPr lang="hr-HR"/>
              <a:t>Četvrta razina</a:t>
            </a:r>
          </a:p>
          <a:p>
            <a:pPr lvl="4" rtl="0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69DD90-623B-413F-B8DF-1D32D3449399}" type="datetime1">
              <a:rPr lang="sr-Latn-RS" smtClean="0"/>
              <a:t>11.1.2023.</a:t>
            </a:fld>
            <a:endParaRPr lang="en-US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/>
          <a:p>
            <a:pPr rtl="0"/>
            <a:r>
              <a:rPr lang="hr-HR"/>
              <a:t>Kliknite da biste uredili stil naslova matrice</a:t>
            </a:r>
            <a:endParaRPr lang="en-US" dirty="0"/>
          </a:p>
        </p:txBody>
      </p:sp>
      <p:sp>
        <p:nvSpPr>
          <p:cNvPr id="3" name="Okomiti tekst s rezerviranim mjestom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/>
          <a:p>
            <a:pPr lvl="0" rtl="0"/>
            <a:r>
              <a:rPr lang="hr-HR"/>
              <a:t>Kliknite da biste uredili matrice</a:t>
            </a:r>
          </a:p>
          <a:p>
            <a:pPr lvl="1" rtl="0"/>
            <a:r>
              <a:rPr lang="hr-HR"/>
              <a:t>Druga razina</a:t>
            </a:r>
          </a:p>
          <a:p>
            <a:pPr lvl="2" rtl="0"/>
            <a:r>
              <a:rPr lang="hr-HR"/>
              <a:t>Treća razina</a:t>
            </a:r>
          </a:p>
          <a:p>
            <a:pPr lvl="3" rtl="0"/>
            <a:r>
              <a:rPr lang="hr-HR"/>
              <a:t>Četvrta razina</a:t>
            </a:r>
          </a:p>
          <a:p>
            <a:pPr lvl="4" rtl="0"/>
            <a:r>
              <a:rPr lang="hr-HR"/>
              <a:t>Peta razina stilove teksta</a:t>
            </a:r>
            <a:endParaRPr lang="en-US" dirty="0"/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130785-97E8-43AD-94B5-5D21BDA6BAAE}" type="datetime1">
              <a:rPr lang="sr-Latn-RS" smtClean="0"/>
              <a:t>11.1.2023.</a:t>
            </a:fld>
            <a:endParaRPr lang="en-US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Pravokutnik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7" name="Pravokutnik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Pravokutnik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Rezervirano mjesto za naslov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hr"/>
              <a:t>Kliknite da biste uredili stil naslova matrice</a:t>
            </a:r>
            <a:endParaRPr lang="en-US" dirty="0"/>
          </a:p>
        </p:txBody>
      </p:sp>
      <p:sp>
        <p:nvSpPr>
          <p:cNvPr id="3" name="Rezervirano mjesto za tekst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hr"/>
              <a:t>Kliknite da biste uredili stilove teksta matrice</a:t>
            </a:r>
          </a:p>
          <a:p>
            <a:pPr lvl="1" rtl="0"/>
            <a:r>
              <a:rPr lang="hr"/>
              <a:t>Druga razina</a:t>
            </a:r>
          </a:p>
          <a:p>
            <a:pPr lvl="2" rtl="0"/>
            <a:r>
              <a:rPr lang="hr"/>
              <a:t>Treća razina</a:t>
            </a:r>
          </a:p>
          <a:p>
            <a:pPr lvl="3" rtl="0"/>
            <a:r>
              <a:rPr lang="hr"/>
              <a:t>Četvrta razina</a:t>
            </a:r>
          </a:p>
          <a:p>
            <a:pPr lvl="4" rtl="0"/>
            <a:r>
              <a:rPr lang="hr"/>
              <a:t>Peta razina</a:t>
            </a:r>
            <a:endParaRPr lang="en-US" dirty="0"/>
          </a:p>
        </p:txBody>
      </p:sp>
      <p:sp>
        <p:nvSpPr>
          <p:cNvPr id="4" name="Rezervirano mjesto za datum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1BE5080-8651-4DCC-9279-5D738C35574A}" type="datetime1">
              <a:rPr lang="sr-Latn-RS" smtClean="0"/>
              <a:t>11.1.2023.</a:t>
            </a:fld>
            <a:endParaRPr lang="en-US" dirty="0"/>
          </a:p>
        </p:txBody>
      </p:sp>
      <p:sp>
        <p:nvSpPr>
          <p:cNvPr id="5" name="Rezervirano mjesto za podnožje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Rezervirano mjesto za broj slajda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x-engineer.org/undergraduate-engineering/advanced-mathematics/differential-equations/drawing-vector-field-plots-easy/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 descr="Krupni plan logotipa&#10;&#10;Opis se generira automatski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Pravokutnik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Pravokutnik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2" y="2686394"/>
            <a:ext cx="4775075" cy="1630907"/>
          </a:xfrm>
        </p:spPr>
        <p:txBody>
          <a:bodyPr rtlCol="0">
            <a:normAutofit fontScale="90000"/>
          </a:bodyPr>
          <a:lstStyle/>
          <a:p>
            <a:pPr rtl="0"/>
            <a:r>
              <a:rPr lang="hr" sz="4400" dirty="0">
                <a:solidFill>
                  <a:schemeClr val="tx1"/>
                </a:solidFill>
              </a:rPr>
              <a:t>Rješavanje diferencijalnih jednadžbi Eulerovom metodom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149994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hr" b="1" dirty="0">
                <a:solidFill>
                  <a:schemeClr val="bg1"/>
                </a:solidFill>
              </a:rPr>
              <a:t>Program u Pythonu</a:t>
            </a: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92D5EB2-4F31-1534-0F30-32DBB47D9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Što je diferencijalna jednadžba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72562E8-3882-C256-DA35-A5C518EC1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Diferencijalna jednadžba je matematička jednadžba koja opisuje promjene u funkciji u odnosu na promjene u varijabli. </a:t>
            </a:r>
          </a:p>
          <a:p>
            <a:r>
              <a:rPr lang="hr-HR" dirty="0"/>
              <a:t>Takve jednadžbe obično se pišu u obliku gdje je y funkcija koja se traži, a x je varijabla po kojoj se funkcija mijenja. </a:t>
            </a:r>
          </a:p>
          <a:p>
            <a:r>
              <a:rPr lang="hr-HR" dirty="0"/>
              <a:t>Diferencijalne jednadžbe su vrlo važne u mnogim područjima matematike, fizike i inženjerstva zbog svoje sposobnosti da opišu dinamičke procese koji se mijenjaju u vremenu.</a:t>
            </a:r>
          </a:p>
          <a:p>
            <a:r>
              <a:rPr lang="hr-HR" dirty="0"/>
              <a:t>Rješenja diferencijalnih jednadžbi nisu brojevi, već funkcije!</a:t>
            </a:r>
          </a:p>
          <a:p>
            <a:endParaRPr lang="hr-HR" dirty="0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B183147-BCB0-0800-10A8-6E888C4E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F9314C8-ED56-4756-B0CD-6D712BE27B48}" type="datetime1">
              <a:rPr lang="sr-Latn-RS" smtClean="0"/>
              <a:t>11.1.2023.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91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997008A-1BEB-2B99-5D94-F3C7297C9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Eulerova metoda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5BB0F460-26DC-3415-42E0-83CFE1C0B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C7B37205-305E-3852-B269-1DD267C1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9794191-82E4-45EF-B2DF-FDA23A6404F9}" type="datetime1">
              <a:rPr lang="sr-Latn-RS" smtClean="0"/>
              <a:t>11.1.2023.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975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92D5EB2-4F31-1534-0F30-32DBB47D9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Eulerova metoda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572562E8-3882-C256-DA35-A5C518EC19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Metoda rješavanja običnih diferencijalnih jednadžbi (ODE)</a:t>
            </a:r>
          </a:p>
          <a:p>
            <a:r>
              <a:rPr lang="hr-HR" dirty="0"/>
              <a:t>Radi na principu izračunavanja vrijednosti funkcije y izračunavajući nagib dvije točke uz pretpostavku da je jednak za njih počevši od određenog trenutka/točke (x</a:t>
            </a:r>
            <a:r>
              <a:rPr lang="hr-HR" baseline="-25000" dirty="0"/>
              <a:t>0</a:t>
            </a:r>
            <a:r>
              <a:rPr lang="hr-HR" dirty="0"/>
              <a:t>, y</a:t>
            </a:r>
            <a:r>
              <a:rPr lang="hr-HR" baseline="-25000" dirty="0"/>
              <a:t>0</a:t>
            </a:r>
            <a:r>
              <a:rPr lang="hr-HR" dirty="0"/>
              <a:t>) do (</a:t>
            </a:r>
            <a:r>
              <a:rPr lang="hr-HR" dirty="0" err="1"/>
              <a:t>x</a:t>
            </a:r>
            <a:r>
              <a:rPr lang="hr-HR" baseline="-25000" dirty="0" err="1"/>
              <a:t>n</a:t>
            </a:r>
            <a:r>
              <a:rPr lang="hr-HR" dirty="0"/>
              <a:t>, </a:t>
            </a:r>
            <a:r>
              <a:rPr lang="hr-HR" dirty="0" err="1"/>
              <a:t>y</a:t>
            </a:r>
            <a:r>
              <a:rPr lang="hr-HR" baseline="-25000" dirty="0" err="1"/>
              <a:t>n</a:t>
            </a:r>
            <a:r>
              <a:rPr lang="hr-HR" dirty="0"/>
              <a:t>).</a:t>
            </a:r>
          </a:p>
          <a:p>
            <a:r>
              <a:rPr lang="hr-HR" dirty="0"/>
              <a:t> X vrijednost biramo samostalno, njihova je razlika konstantna i naziva se pomak.</a:t>
            </a:r>
          </a:p>
          <a:p>
            <a:r>
              <a:rPr lang="hr-HR" dirty="0"/>
              <a:t>Trenutak/točka x0, y0 zove se početni uvjet. </a:t>
            </a:r>
          </a:p>
          <a:p>
            <a:pPr algn="ctr"/>
            <a:r>
              <a:rPr lang="hr-HR" dirty="0"/>
              <a:t>Početni uvjet je posljedica pravila deriviranja po kojoj vrijedi da je derivacija konstante jednaka nula: f’(c) = 0</a:t>
            </a:r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B183147-BCB0-0800-10A8-6E888C4E8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F9314C8-ED56-4756-B0CD-6D712BE27B48}" type="datetime1">
              <a:rPr lang="sr-Latn-RS" smtClean="0"/>
              <a:t>11.1.2023.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410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301F2BD-5317-04BE-84A6-E2AE6A5B32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8599" y="303287"/>
            <a:ext cx="7696201" cy="625142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91156377-EE91-07BE-CFB7-CA01AE6A81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B65509A0-50F9-4355-A7E6-40BC0B55820E}" type="datetime1">
              <a:rPr lang="sr-Latn-RS" smtClean="0"/>
              <a:pPr rtl="0">
                <a:spcAft>
                  <a:spcPts val="600"/>
                </a:spcAft>
              </a:pPr>
              <a:t>11.1.2023.</a:t>
            </a:fld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1C4A3486-9FE2-B276-B869-53AA1031A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rmAutofit/>
          </a:bodyPr>
          <a:lstStyle/>
          <a:p>
            <a:r>
              <a:rPr lang="hr-HR" dirty="0"/>
              <a:t>Primjer</a:t>
            </a: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DF787296-B8BB-A8B8-68E3-AE5F3E968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/>
          <a:lstStyle/>
          <a:p>
            <a:r>
              <a:rPr lang="hr-HR" dirty="0"/>
              <a:t>Vektorsko polje prikazuje neka moguća rješenja neke diferencijalne jednadžbe.</a:t>
            </a:r>
            <a:endParaRPr lang="en-US" dirty="0"/>
          </a:p>
        </p:txBody>
      </p:sp>
      <p:sp>
        <p:nvSpPr>
          <p:cNvPr id="4" name="TekstniOkvir 3">
            <a:extLst>
              <a:ext uri="{FF2B5EF4-FFF2-40B4-BE49-F238E27FC236}">
                <a16:creationId xmlns:a16="http://schemas.microsoft.com/office/drawing/2014/main" id="{9655C349-2D36-BA94-ACAC-C0A0B83B42B1}"/>
              </a:ext>
            </a:extLst>
          </p:cNvPr>
          <p:cNvSpPr txBox="1"/>
          <p:nvPr/>
        </p:nvSpPr>
        <p:spPr>
          <a:xfrm>
            <a:off x="228599" y="6534834"/>
            <a:ext cx="9051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000" dirty="0">
                <a:hlinkClick r:id="rId3"/>
              </a:rPr>
              <a:t>https://x-engineer.org/undergraduate-engineering/advanced-mathematics/differential-equations/drawing-vector-field-plots-easy</a:t>
            </a:r>
            <a:r>
              <a:rPr lang="hr-HR" dirty="0">
                <a:hlinkClick r:id="rId3"/>
              </a:rPr>
              <a:t>/</a:t>
            </a:r>
            <a:endParaRPr lang="hr-HR" dirty="0"/>
          </a:p>
          <a:p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387270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rtlCol="0">
            <a:normAutofit/>
          </a:bodyPr>
          <a:lstStyle/>
          <a:p>
            <a:pPr algn="ctr" rtl="0"/>
            <a:r>
              <a:rPr lang="hr" dirty="0"/>
              <a:t>Obilježja Eulerove metode</a:t>
            </a:r>
          </a:p>
        </p:txBody>
      </p:sp>
      <p:graphicFrame>
        <p:nvGraphicFramePr>
          <p:cNvPr id="5" name="Rezervirano mjesto za sadržaj 2">
            <a:extLst>
              <a:ext uri="{FF2B5EF4-FFF2-40B4-BE49-F238E27FC236}">
                <a16:creationId xmlns:a16="http://schemas.microsoft.com/office/drawing/2014/main" id="{91DB1382-7276-49FA-9632-38D558F45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7214679"/>
              </p:ext>
            </p:extLst>
          </p:nvPr>
        </p:nvGraphicFramePr>
        <p:xfrm>
          <a:off x="1066800" y="2310063"/>
          <a:ext cx="10058400" cy="37256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997008A-1BEB-2B99-5D94-F3C7297C9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Kod u </a:t>
            </a:r>
            <a:r>
              <a:rPr lang="hr-HR" dirty="0" err="1"/>
              <a:t>pythonu</a:t>
            </a:r>
            <a:endParaRPr lang="hr-HR" dirty="0"/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5BB0F460-26DC-3415-42E0-83CFE1C0B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C7B37205-305E-3852-B269-1DD267C1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9794191-82E4-45EF-B2DF-FDA23A6404F9}" type="datetime1">
              <a:rPr lang="sr-Latn-RS" smtClean="0"/>
              <a:t>11.1.2023.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066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E448914-1A38-D3E8-2999-D8DE70B40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Kratki prikaz rada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EC506CA-0D19-F753-0CE4-2435E34A3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r-HR" dirty="0"/>
              <a:t>GUI sučelje u </a:t>
            </a:r>
            <a:r>
              <a:rPr lang="hr-HR" dirty="0" err="1"/>
              <a:t>TKinteru</a:t>
            </a:r>
            <a:r>
              <a:rPr lang="hr-HR" dirty="0"/>
              <a:t>- unos vrijednosti</a:t>
            </a:r>
          </a:p>
          <a:p>
            <a:r>
              <a:rPr lang="hr-HR" dirty="0"/>
              <a:t>Pozivanje klase </a:t>
            </a:r>
            <a:r>
              <a:rPr lang="hr-HR" dirty="0" err="1"/>
              <a:t>Diferencijalna_jednadžba</a:t>
            </a:r>
            <a:r>
              <a:rPr lang="hr-HR" dirty="0"/>
              <a:t> koja ima metode za rješavanje</a:t>
            </a:r>
          </a:p>
          <a:p>
            <a:r>
              <a:rPr lang="hr-HR" dirty="0"/>
              <a:t>Metoda rješavanje</a:t>
            </a:r>
          </a:p>
          <a:p>
            <a:r>
              <a:rPr lang="hr-HR" dirty="0"/>
              <a:t>Metoda uvrštavanje</a:t>
            </a:r>
          </a:p>
          <a:p>
            <a:r>
              <a:rPr lang="hr-HR" dirty="0"/>
              <a:t>Metoda crtanje</a:t>
            </a:r>
          </a:p>
          <a:p>
            <a:endParaRPr lang="hr-HR" dirty="0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E4FB6B93-69BC-59F4-B52B-62DC97EE0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F9314C8-ED56-4756-B0CD-6D712BE27B48}" type="datetime1">
              <a:rPr lang="sr-Latn-RS" smtClean="0"/>
              <a:t>11.1.2023.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137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3ADA665E-B677-1057-0F70-5849ECF1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E575FD4C-D307-40C5-8E7B-59AD9076BFB9}" type="datetime1">
              <a:rPr lang="sr-Latn-RS" smtClean="0"/>
              <a:pPr rtl="0">
                <a:spcAft>
                  <a:spcPts val="600"/>
                </a:spcAft>
              </a:pPr>
              <a:t>11.1.2023.</a:t>
            </a:fld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1CE5D11-5C31-82E2-C748-FE700C15C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/>
          <a:lstStyle/>
          <a:p>
            <a:r>
              <a:rPr lang="hr-HR" dirty="0"/>
              <a:t>Liste za spremanje rješenja i odabir modula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DEEA2E8-5478-57C9-96FB-A7EBFE711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/>
          <a:lstStyle/>
          <a:p>
            <a:r>
              <a:rPr lang="hr-HR" dirty="0" err="1"/>
              <a:t>Tkinter</a:t>
            </a:r>
            <a:r>
              <a:rPr lang="hr-HR" dirty="0"/>
              <a:t>- GUI</a:t>
            </a:r>
          </a:p>
          <a:p>
            <a:r>
              <a:rPr lang="hr-HR" dirty="0" err="1"/>
              <a:t>Mathplotlib</a:t>
            </a:r>
            <a:r>
              <a:rPr lang="hr-HR" dirty="0"/>
              <a:t>- za crtanje grafova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0DCBDA5C-70EA-2086-A54E-429DC4E0E5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0"/>
          <a:stretch/>
        </p:blipFill>
        <p:spPr>
          <a:xfrm>
            <a:off x="811764" y="2270595"/>
            <a:ext cx="5959540" cy="2316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026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91D7044-0C6D-EC60-75B1-CE7FB1F66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/>
          <a:p>
            <a:r>
              <a:rPr lang="hr-HR" dirty="0"/>
              <a:t>GUI</a:t>
            </a:r>
          </a:p>
        </p:txBody>
      </p:sp>
      <p:pic>
        <p:nvPicPr>
          <p:cNvPr id="8" name="Rezervirano mjesto slike 7">
            <a:extLst>
              <a:ext uri="{FF2B5EF4-FFF2-40B4-BE49-F238E27FC236}">
                <a16:creationId xmlns:a16="http://schemas.microsoft.com/office/drawing/2014/main" id="{1C059792-41F8-0039-5566-CB5130239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/>
        </p:blipFill>
        <p:spPr>
          <a:xfrm>
            <a:off x="1300024" y="609600"/>
            <a:ext cx="5629551" cy="5334000"/>
          </a:xfrm>
          <a:noFill/>
        </p:spPr>
      </p:pic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C027EFE5-5078-361D-DBDE-48CB86140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/>
          <a:p>
            <a:r>
              <a:rPr lang="hr-HR" dirty="0"/>
              <a:t>Funkcijom unos u prvom gumbu poziva se klasa diferencijalnih jednadžbi</a:t>
            </a:r>
          </a:p>
          <a:p>
            <a:r>
              <a:rPr lang="hr-HR" dirty="0"/>
              <a:t>Funkcijom crtanje u drugom gumbu poziva se funkcija za crtanje grafa</a:t>
            </a:r>
            <a:endParaRPr lang="en-US" dirty="0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15B46704-0B25-AF08-CA39-33E3CF08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6F9314C8-ED56-4756-B0CD-6D712BE27B48}" type="datetime1">
              <a:rPr lang="sr-Latn-RS" smtClean="0"/>
              <a:pPr rtl="0">
                <a:spcAft>
                  <a:spcPts val="600"/>
                </a:spcAft>
              </a:pPr>
              <a:t>11.1.2023.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18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39265AF-A0F5-D763-9099-EA86C89E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GUI</a:t>
            </a:r>
          </a:p>
        </p:txBody>
      </p:sp>
      <p:pic>
        <p:nvPicPr>
          <p:cNvPr id="7" name="Rezervirano mjesto sadržaja 6">
            <a:extLst>
              <a:ext uri="{FF2B5EF4-FFF2-40B4-BE49-F238E27FC236}">
                <a16:creationId xmlns:a16="http://schemas.microsoft.com/office/drawing/2014/main" id="{D2BEC79E-0198-D7DE-1E4E-AA50D628B0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1389" b="76526"/>
          <a:stretch/>
        </p:blipFill>
        <p:spPr>
          <a:xfrm>
            <a:off x="571837" y="1713547"/>
            <a:ext cx="6676842" cy="3081338"/>
          </a:xfrm>
        </p:spPr>
      </p:pic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ECC5E8A8-6458-8272-4C0F-8DDA125CF22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hr-HR" dirty="0"/>
              <a:t>Izgled korisničkog grafičkog sučelja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B087671B-AA0C-72DB-6FCB-B1B0DAE82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9841072-3D07-4E65-9DD7-9E0704450E00}" type="datetime1">
              <a:rPr lang="sr-Latn-RS" smtClean="0"/>
              <a:t>11.1.2023.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73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3">
            <a:extLst>
              <a:ext uri="{FF2B5EF4-FFF2-40B4-BE49-F238E27FC236}">
                <a16:creationId xmlns:a16="http://schemas.microsoft.com/office/drawing/2014/main" id="{FEC74CE4-138C-9CC4-4378-6816C698F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r>
              <a:rPr lang="hr-HR" dirty="0"/>
              <a:t>Klasa Diferencijalna jednadžba</a:t>
            </a:r>
            <a:endParaRPr lang="en-US" dirty="0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CCC7EF0C-936E-6046-F3EC-8A9408CE65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r-HR" dirty="0"/>
              <a:t>Definicija klase</a:t>
            </a:r>
            <a:endParaRPr lang="en-US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E3BEC955-CD7A-78F5-90D7-E8FA0937A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371" y="3046996"/>
            <a:ext cx="9432729" cy="2234462"/>
          </a:xfrm>
          <a:prstGeom prst="rect">
            <a:avLst/>
          </a:prstGeom>
          <a:noFill/>
        </p:spPr>
      </p:pic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CC4312A3-B9C6-96B5-643E-A194408D38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74C0B247-CD71-4835-A057-7F18327D242B}" type="datetime1">
              <a:rPr lang="sr-Latn-RS" smtClean="0"/>
              <a:pPr rtl="0">
                <a:spcAft>
                  <a:spcPts val="600"/>
                </a:spcAft>
              </a:pPr>
              <a:t>11.1.2023.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1924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slov 3">
            <a:extLst>
              <a:ext uri="{FF2B5EF4-FFF2-40B4-BE49-F238E27FC236}">
                <a16:creationId xmlns:a16="http://schemas.microsoft.com/office/drawing/2014/main" id="{7A084AFF-27C4-4FC5-3B2D-95C16537F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r>
              <a:rPr lang="hr-HR" dirty="0"/>
              <a:t>Metoda koja rješava jednadžbe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F48DEAC0-5268-47F5-C8CF-0275E6759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207" y="2103120"/>
            <a:ext cx="6805585" cy="3849624"/>
          </a:xfrm>
          <a:prstGeom prst="rect">
            <a:avLst/>
          </a:prstGeom>
          <a:noFill/>
        </p:spPr>
      </p:pic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1C39E9B1-75CE-72F3-4F2C-B47E6030EA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74C0B247-CD71-4835-A057-7F18327D242B}" type="datetime1">
              <a:rPr lang="sr-Latn-RS" smtClean="0"/>
              <a:pPr rtl="0">
                <a:spcAft>
                  <a:spcPts val="600"/>
                </a:spcAft>
              </a:pPr>
              <a:t>11.1.2023.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751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zervirano mjesto sadržaja 5">
            <a:extLst>
              <a:ext uri="{FF2B5EF4-FFF2-40B4-BE49-F238E27FC236}">
                <a16:creationId xmlns:a16="http://schemas.microsoft.com/office/drawing/2014/main" id="{36536C20-4002-59F8-73AB-E8C0F84EAD8F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tretch/>
        </p:blipFill>
        <p:spPr>
          <a:xfrm>
            <a:off x="228599" y="888562"/>
            <a:ext cx="7696201" cy="5080875"/>
          </a:xfrm>
          <a:noFill/>
        </p:spPr>
      </p:pic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9326745D-0C99-F28C-AB3A-AD9C1083A6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6F9314C8-ED56-4756-B0CD-6D712BE27B48}" type="datetime1">
              <a:rPr lang="sr-Latn-RS" smtClean="0"/>
              <a:pPr rtl="0">
                <a:spcAft>
                  <a:spcPts val="600"/>
                </a:spcAft>
              </a:pPr>
              <a:t>11.1.2023.</a:t>
            </a:fld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52E8F6B-C3DD-0C8F-53EB-88495432F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rmAutofit/>
          </a:bodyPr>
          <a:lstStyle/>
          <a:p>
            <a:r>
              <a:rPr lang="hr-HR" dirty="0"/>
              <a:t>Metoda uvrštavanje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CDDB805-B12D-B331-66A5-1AD723F048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/>
          <a:lstStyle/>
          <a:p>
            <a:r>
              <a:rPr lang="hr-HR" dirty="0"/>
              <a:t>Funkcija </a:t>
            </a:r>
            <a:r>
              <a:rPr lang="hr-HR" dirty="0" err="1"/>
              <a:t>eval</a:t>
            </a:r>
            <a:r>
              <a:rPr lang="hr-HR" dirty="0"/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7221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F950A74-D792-5D81-1E9E-60EB63950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</p:spPr>
        <p:txBody>
          <a:bodyPr anchor="ctr">
            <a:normAutofit/>
          </a:bodyPr>
          <a:lstStyle/>
          <a:p>
            <a:r>
              <a:rPr lang="hr-HR" dirty="0"/>
              <a:t>Metoda koja crta grafove rješenja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852C7B8F-90E9-4FEA-54D0-3C4E803CB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4689" y="2406601"/>
            <a:ext cx="5778627" cy="3236031"/>
          </a:xfrm>
          <a:prstGeom prst="rect">
            <a:avLst/>
          </a:prstGeom>
          <a:noFill/>
        </p:spPr>
      </p:pic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6B924CE1-A5E0-6642-6C98-70AF7BA0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6794" y="6035040"/>
            <a:ext cx="2893045" cy="365760"/>
          </a:xfrm>
        </p:spPr>
        <p:txBody>
          <a:bodyPr anchor="b">
            <a:normAutofit/>
          </a:bodyPr>
          <a:lstStyle/>
          <a:p>
            <a:pPr rtl="0">
              <a:spcAft>
                <a:spcPts val="600"/>
              </a:spcAft>
            </a:pPr>
            <a:fld id="{6F9314C8-ED56-4756-B0CD-6D712BE27B48}" type="datetime1">
              <a:rPr lang="sr-Latn-RS" smtClean="0"/>
              <a:pPr rtl="0">
                <a:spcAft>
                  <a:spcPts val="600"/>
                </a:spcAft>
              </a:pPr>
              <a:t>11.1.2023.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312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9178C90-E03E-9EF7-B9D7-44A4E9EDE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Primjer rada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920E019C-DD31-AF5A-35B7-D384A7630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EBD948CD-4ED6-CFD0-F523-6B3B0D480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9794191-82E4-45EF-B2DF-FDA23A6404F9}" type="datetime1">
              <a:rPr lang="sr-Latn-RS" smtClean="0"/>
              <a:t>11.1.2023.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772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BA28846F-B61C-E56D-5CD9-8E19756F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Unos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E891F6DD-99DA-A225-DA60-9252FE904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65509A0-50F9-4355-A7E6-40BC0B55820E}" type="datetime1">
              <a:rPr lang="sr-Latn-RS" smtClean="0"/>
              <a:t>11.1.2023.</a:t>
            </a:fld>
            <a:endParaRPr lang="en-US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5910A607-6D4F-CFC1-4595-38330B88EC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033" t="44005" r="40252" b="36589"/>
          <a:stretch/>
        </p:blipFill>
        <p:spPr>
          <a:xfrm>
            <a:off x="1981201" y="2343151"/>
            <a:ext cx="807720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393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568F2DF-EA70-6237-EFC8-87D78AE23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/>
              <a:t>Ispis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AF450CD7-49F1-9D92-BCCD-57FFD991DC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Rezultata</a:t>
            </a:r>
          </a:p>
        </p:txBody>
      </p:sp>
      <p:pic>
        <p:nvPicPr>
          <p:cNvPr id="9" name="Rezervirano mjesto sadržaja 8">
            <a:extLst>
              <a:ext uri="{FF2B5EF4-FFF2-40B4-BE49-F238E27FC236}">
                <a16:creationId xmlns:a16="http://schemas.microsoft.com/office/drawing/2014/main" id="{4F554787-EAEA-6D7C-0D3C-3C710FA042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r="46767" b="67155"/>
          <a:stretch/>
        </p:blipFill>
        <p:spPr>
          <a:xfrm>
            <a:off x="831850" y="3252976"/>
            <a:ext cx="5132215" cy="1781222"/>
          </a:xfrm>
        </p:spPr>
      </p:pic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3CDAD051-4D6C-C83C-95CA-52E0A7BA3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hr-HR" dirty="0"/>
              <a:t>Graf</a:t>
            </a:r>
          </a:p>
        </p:txBody>
      </p:sp>
      <p:pic>
        <p:nvPicPr>
          <p:cNvPr id="11" name="Rezervirano mjesto sadržaja 10">
            <a:extLst>
              <a:ext uri="{FF2B5EF4-FFF2-40B4-BE49-F238E27FC236}">
                <a16:creationId xmlns:a16="http://schemas.microsoft.com/office/drawing/2014/main" id="{FB310874-61A8-4634-989A-58DAD576646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3"/>
          <a:srcRect l="14" b="5834"/>
          <a:stretch/>
        </p:blipFill>
        <p:spPr>
          <a:xfrm>
            <a:off x="6458585" y="3062585"/>
            <a:ext cx="4663440" cy="2470468"/>
          </a:xfrm>
        </p:spPr>
      </p:pic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56CF2700-235D-57A8-8E6A-F63DA2498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7F118D5-4299-4A2F-9F76-D0606DF9DF42}" type="datetime1">
              <a:rPr lang="sr-Latn-RS" smtClean="0"/>
              <a:t>11.1.2023.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73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8F9DE02-B802-568B-B313-B324ED4273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r-HR" dirty="0"/>
              <a:t>Hvala na pažnji!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CB994E39-1499-E2A5-70E8-CE6DCB33D4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r-HR" dirty="0"/>
              <a:t>Tvrtko Šapina, 4.k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5040631F-8E69-ED4B-758B-5C51FB94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8885869-B068-409A-BCEB-4F7E5B63EAEB}" type="datetime1">
              <a:rPr lang="sr-Latn-RS" smtClean="0"/>
              <a:t>11.1.2023.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9504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74_TF78438558" id="{2DC8EEE3-4BE4-4430-AC86-B06E24574DD1}" vid="{3985B9FD-0530-464B-A2AD-C0856C376533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{73F8AA2B-2F30-486E-874E-72524AFADFB2}tf78438558_win32</Template>
  <TotalTime>145</TotalTime>
  <Words>350</Words>
  <Application>Microsoft Office PowerPoint</Application>
  <PresentationFormat>Široki zaslon</PresentationFormat>
  <Paragraphs>66</Paragraphs>
  <Slides>19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19</vt:i4>
      </vt:variant>
    </vt:vector>
  </HeadingPairs>
  <TitlesOfParts>
    <vt:vector size="23" baseType="lpstr">
      <vt:lpstr>Calibri</vt:lpstr>
      <vt:lpstr>Century Gothic</vt:lpstr>
      <vt:lpstr>Garamond</vt:lpstr>
      <vt:lpstr>SavonVTI</vt:lpstr>
      <vt:lpstr>Rješavanje diferencijalnih jednadžbi Eulerovom metodom</vt:lpstr>
      <vt:lpstr>Što je diferencijalna jednadžba</vt:lpstr>
      <vt:lpstr>Eulerova metoda</vt:lpstr>
      <vt:lpstr>Eulerova metoda</vt:lpstr>
      <vt:lpstr>Primjer</vt:lpstr>
      <vt:lpstr>Obilježja Eulerove metode</vt:lpstr>
      <vt:lpstr>Kod u pythonu</vt:lpstr>
      <vt:lpstr>Kratki prikaz rada</vt:lpstr>
      <vt:lpstr>Liste za spremanje rješenja i odabir modula</vt:lpstr>
      <vt:lpstr>GUI</vt:lpstr>
      <vt:lpstr>GUI</vt:lpstr>
      <vt:lpstr>Klasa Diferencijalna jednadžba</vt:lpstr>
      <vt:lpstr>Metoda koja rješava jednadžbe</vt:lpstr>
      <vt:lpstr>Metoda uvrštavanje</vt:lpstr>
      <vt:lpstr>Metoda koja crta grafove rješenja</vt:lpstr>
      <vt:lpstr>Primjer rada</vt:lpstr>
      <vt:lpstr>Unos</vt:lpstr>
      <vt:lpstr>Ispis</vt:lpstr>
      <vt:lpstr>Hvala na pažnji!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Rješavanje diferencijalnih jednadžbi Eulerovom metodom</dc:title>
  <dc:creator>Tvrtko Šapina</dc:creator>
  <cp:lastModifiedBy>Tvrtko Šapina</cp:lastModifiedBy>
  <cp:revision>3</cp:revision>
  <dcterms:created xsi:type="dcterms:W3CDTF">2023-01-09T10:44:13Z</dcterms:created>
  <dcterms:modified xsi:type="dcterms:W3CDTF">2023-01-11T11:17:06Z</dcterms:modified>
</cp:coreProperties>
</file>